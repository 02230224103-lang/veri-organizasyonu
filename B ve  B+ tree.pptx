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2" d="100"/>
          <a:sy n="102" d="100"/>
        </p:scale>
        <p:origin x="-236" y="2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4001E3-AE6D-4853-B77C-30D0E1950CED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D56617-7617-4DE8-A53C-58018BFEC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468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ve B+ Ağaçları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Veritabanları ve Depolama Sistemlerinde Kullanım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Uygulamalar ve Günümüzdeki Önemi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ve B+ Ağaçları Nedir?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E3F2FD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B-Tree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Kendiliğinden dengeli ağaç yapısı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Her düğümde birden fazla anahtar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Veri her seviyede depolanabilir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Arama, ekleme, silme: O(log n)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Disk I/O için optimize edilmiş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0F9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B+ Tree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6916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Tüm veri yaprak düğümlerde bulunur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İç düğümler sadece indeksleme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Yapraklar birbirine bağlıdır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Aralık sorguları için mükemmel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Sıralı erişim için optimize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208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Gerçek Hayat Örneği: Hastane Hasta Dosyaları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1168814"/>
            <a:ext cx="3931920" cy="347472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75695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B+ Tree Olmadan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Milyon Hasta Dosyası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Tüm dosyaları sırayla arama: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2.000.000 dosya × 1 sn =
</a:t>
            </a:r>
            <a:r>
              <a:rPr lang="en-US" sz="1400" b="1" dirty="0" smtClean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GÜN</a:t>
            </a:r>
          </a:p>
          <a:p>
            <a:pPr marL="0" indent="0">
              <a:buNone/>
            </a:pPr>
            <a:r>
              <a:rPr lang="en-US" sz="1100" dirty="0" smtClean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</a:t>
            </a: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Zaman kaybı</a:t>
            </a:r>
            <a:endParaRPr lang="en-US" sz="1200" dirty="0"/>
          </a:p>
          <a:p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</a:t>
            </a:r>
            <a:r>
              <a:rPr lang="en-US" sz="1100" dirty="0" err="1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maliyet</a:t>
            </a: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artışı</a:t>
            </a:r>
            <a:endParaRPr lang="en-US" sz="1100" dirty="0">
              <a:solidFill>
                <a:srgbClr val="1F1F1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</a:t>
            </a:r>
            <a:r>
              <a:rPr lang="en-US" sz="1100" dirty="0" err="1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</a:t>
            </a: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çok</a:t>
            </a: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ise</a:t>
            </a: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dizinde</a:t>
            </a: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ayrı</a:t>
            </a: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</a:t>
            </a: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</a:t>
            </a: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gerekir</a:t>
            </a:r>
            <a:endParaRPr lang="en-US" sz="1100" dirty="0">
              <a:solidFill>
                <a:srgbClr val="1F1F1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726887" y="1181254"/>
            <a:ext cx="3931920" cy="3474720"/>
          </a:xfrm>
          <a:prstGeom prst="rect">
            <a:avLst/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3162" y="1691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B+ Tree ile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916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Seviye İndeksleme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Log₅₀₀(2.000.000) ≈ 2-3 seviye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Maksimum 3 dolap açılması
</a:t>
            </a:r>
            <a:endParaRPr lang="en-US" sz="12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 </a:t>
            </a:r>
            <a:r>
              <a:rPr lang="en-US" sz="1400" b="1" dirty="0" smtClean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SANİYE</a:t>
            </a:r>
            <a:endParaRPr lang="en-US" sz="1400" b="1" dirty="0">
              <a:solidFill>
                <a:srgbClr val="10B98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100" dirty="0" smtClean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Çok hızlı</a:t>
            </a:r>
            <a:endParaRPr lang="en-US" sz="1200" dirty="0"/>
          </a:p>
          <a:p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100" dirty="0" err="1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Verimli</a:t>
            </a:r>
            <a:endParaRPr lang="en-US" sz="1100" dirty="0">
              <a:solidFill>
                <a:srgbClr val="1F1F1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100" dirty="0" err="1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Yapraklar</a:t>
            </a: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bağlıdır</a:t>
            </a:r>
            <a:endParaRPr lang="en-US" sz="1100" dirty="0">
              <a:solidFill>
                <a:srgbClr val="1F1F1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9166" y="556625"/>
            <a:ext cx="808964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 smtClean="0"/>
              <a:t>Bir</a:t>
            </a:r>
            <a:r>
              <a:rPr lang="en-US" sz="1400" dirty="0" smtClean="0"/>
              <a:t> </a:t>
            </a:r>
            <a:r>
              <a:rPr lang="en-US" sz="1400" dirty="0" err="1" smtClean="0"/>
              <a:t>hastanenin</a:t>
            </a:r>
            <a:r>
              <a:rPr lang="en-US" sz="1400" dirty="0" smtClean="0"/>
              <a:t> 50 </a:t>
            </a:r>
            <a:r>
              <a:rPr lang="en-US" sz="1400" dirty="0" err="1" smtClean="0"/>
              <a:t>yıl</a:t>
            </a:r>
            <a:r>
              <a:rPr lang="en-US" sz="1400" dirty="0" smtClean="0"/>
              <a:t> </a:t>
            </a:r>
            <a:r>
              <a:rPr lang="en-US" sz="1400" dirty="0" err="1" smtClean="0"/>
              <a:t>içinde</a:t>
            </a:r>
            <a:r>
              <a:rPr lang="en-US" sz="1400" dirty="0" smtClean="0"/>
              <a:t> </a:t>
            </a:r>
            <a:r>
              <a:rPr lang="en-US" sz="1400" dirty="0" err="1" smtClean="0"/>
              <a:t>accumüle</a:t>
            </a:r>
            <a:r>
              <a:rPr lang="en-US" sz="1400" dirty="0" smtClean="0"/>
              <a:t> </a:t>
            </a:r>
            <a:r>
              <a:rPr lang="en-US" sz="1400" dirty="0" err="1" smtClean="0"/>
              <a:t>etmiş</a:t>
            </a:r>
            <a:r>
              <a:rPr lang="en-US" sz="1400" dirty="0" smtClean="0"/>
              <a:t> </a:t>
            </a:r>
            <a:r>
              <a:rPr lang="en-US" sz="1400" dirty="0" err="1" smtClean="0"/>
              <a:t>olduğu</a:t>
            </a:r>
            <a:r>
              <a:rPr lang="en-US" sz="1400" dirty="0" smtClean="0"/>
              <a:t> 2 </a:t>
            </a:r>
            <a:r>
              <a:rPr lang="en-US" sz="1400" dirty="0" err="1" smtClean="0"/>
              <a:t>milyon</a:t>
            </a:r>
            <a:r>
              <a:rPr lang="en-US" sz="1400" dirty="0" smtClean="0"/>
              <a:t> hasta </a:t>
            </a:r>
            <a:r>
              <a:rPr lang="en-US" sz="1400" dirty="0" err="1" smtClean="0"/>
              <a:t>dosyasını</a:t>
            </a:r>
            <a:r>
              <a:rPr lang="en-US" sz="1400" dirty="0" smtClean="0"/>
              <a:t> </a:t>
            </a:r>
            <a:r>
              <a:rPr lang="en-US" sz="1400" dirty="0" err="1" smtClean="0"/>
              <a:t>hayal</a:t>
            </a:r>
            <a:r>
              <a:rPr lang="en-US" sz="1400" dirty="0" smtClean="0"/>
              <a:t> </a:t>
            </a:r>
            <a:r>
              <a:rPr lang="en-US" sz="1400" dirty="0" err="1" smtClean="0"/>
              <a:t>edin</a:t>
            </a:r>
            <a:r>
              <a:rPr lang="en-US" sz="1400" dirty="0" smtClean="0"/>
              <a:t>. Bu </a:t>
            </a:r>
            <a:r>
              <a:rPr lang="en-US" sz="1400" dirty="0" err="1" smtClean="0"/>
              <a:t>dosyaları</a:t>
            </a:r>
            <a:r>
              <a:rPr lang="en-US" sz="1400" dirty="0" smtClean="0"/>
              <a:t> </a:t>
            </a:r>
            <a:r>
              <a:rPr lang="en-US" sz="1400" dirty="0" err="1" smtClean="0"/>
              <a:t>fiziksel</a:t>
            </a:r>
            <a:r>
              <a:rPr lang="en-US" sz="1400" dirty="0" smtClean="0"/>
              <a:t> </a:t>
            </a:r>
            <a:r>
              <a:rPr lang="en-US" sz="1400" dirty="0" err="1" smtClean="0"/>
              <a:t>dosya</a:t>
            </a:r>
            <a:r>
              <a:rPr lang="en-US" sz="1400" dirty="0" smtClean="0"/>
              <a:t> </a:t>
            </a:r>
            <a:r>
              <a:rPr lang="en-US" sz="1400" dirty="0" err="1" smtClean="0"/>
              <a:t>dolaplarında</a:t>
            </a:r>
            <a:r>
              <a:rPr lang="en-US" sz="1400" dirty="0" smtClean="0"/>
              <a:t> organize </a:t>
            </a:r>
            <a:r>
              <a:rPr lang="en-US" sz="1400" dirty="0" err="1" smtClean="0"/>
              <a:t>edip</a:t>
            </a:r>
            <a:r>
              <a:rPr lang="en-US" sz="1400" dirty="0" smtClean="0"/>
              <a:t>, </a:t>
            </a:r>
            <a:r>
              <a:rPr lang="en-US" sz="1400" dirty="0" err="1" smtClean="0"/>
              <a:t>hastalardan</a:t>
            </a:r>
            <a:r>
              <a:rPr lang="en-US" sz="1400" dirty="0" smtClean="0"/>
              <a:t> </a:t>
            </a:r>
            <a:r>
              <a:rPr lang="en-US" sz="1400" dirty="0" err="1" smtClean="0"/>
              <a:t>birinin</a:t>
            </a:r>
            <a:r>
              <a:rPr lang="en-US" sz="1400" dirty="0" smtClean="0"/>
              <a:t> </a:t>
            </a:r>
            <a:r>
              <a:rPr lang="en-US" sz="1400" dirty="0" err="1" smtClean="0"/>
              <a:t>kaydını</a:t>
            </a:r>
            <a:r>
              <a:rPr lang="en-US" sz="1400" dirty="0" smtClean="0"/>
              <a:t> </a:t>
            </a:r>
            <a:r>
              <a:rPr lang="en-US" sz="1400" dirty="0" err="1" smtClean="0"/>
              <a:t>bulmanız</a:t>
            </a:r>
            <a:r>
              <a:rPr lang="en-US" sz="1400" dirty="0" smtClean="0"/>
              <a:t> </a:t>
            </a:r>
            <a:r>
              <a:rPr lang="en-US" sz="1400" dirty="0" err="1" smtClean="0"/>
              <a:t>gerekiyor</a:t>
            </a:r>
            <a:r>
              <a:rPr lang="en-US" sz="1400" dirty="0" smtClean="0"/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Büyük Veritabanlarında Kullanımı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3474720"/>
          </a:xfrm>
          <a:prstGeom prst="rect">
            <a:avLst/>
          </a:prstGeom>
          <a:solidFill>
            <a:srgbClr val="FFF9E6"/>
          </a:solidFill>
          <a:ln w="25400">
            <a:solidFill>
              <a:srgbClr val="F29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34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9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InnoDB Motoru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• Her indeks için B+ tree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Primary key clustered index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Hızlı aralık sorguları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37560" y="1097280"/>
            <a:ext cx="2560320" cy="3474720"/>
          </a:xfrm>
          <a:prstGeom prst="rect">
            <a:avLst/>
          </a:prstGeom>
          <a:solidFill>
            <a:srgbClr val="E7F5FE"/>
          </a:solidFill>
          <a:ln w="25400">
            <a:solidFill>
              <a:srgbClr val="3367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1234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67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0" y="169164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BTREE İndeksi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• Varsayılan indeks türü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Verimli sıralama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Karşılaştırma işlemleri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097280"/>
            <a:ext cx="2560320" cy="3474720"/>
          </a:xfrm>
          <a:prstGeom prst="rect">
            <a:avLst/>
          </a:prstGeom>
          <a:solidFill>
            <a:srgbClr val="F0FDF4"/>
          </a:solidFill>
          <a:ln w="25400">
            <a:solidFill>
              <a:srgbClr val="13A5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234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A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55080" y="169164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B-tree İndeksleme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• Her dokuman indekslenir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Compound indexler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Sharding desteği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Dosya Sistemlerinde Kullanımı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NTFS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File Table (MFT) B+ tree yapısı kullanır
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ext4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Extent tabanlı ayırma B-tree indeksleme ile
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 HFS+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Katalog dosyası B-tree yapısı kullanır
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Btrfs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Adından da anlaşılacağı gibi B-tree tabanlı dosya sistemi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Arama Motorları ve Büyük Veri Sistemleri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3F4F6"/>
          </a:solidFill>
          <a:ln w="25400">
            <a:solidFill>
              <a:srgbClr val="4285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Arama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365760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/>
              <a:t>•   </a:t>
            </a:r>
            <a:r>
              <a:rPr lang="en-US" sz="1200" dirty="0" err="1"/>
              <a:t>Google'ın</a:t>
            </a:r>
            <a:r>
              <a:rPr lang="en-US" sz="1200" dirty="0"/>
              <a:t> web </a:t>
            </a:r>
            <a:r>
              <a:rPr lang="en-US" sz="1200" dirty="0" err="1"/>
              <a:t>indexi</a:t>
            </a:r>
            <a:r>
              <a:rPr lang="en-US" sz="1200" dirty="0"/>
              <a:t> B-tree </a:t>
            </a:r>
            <a:r>
              <a:rPr lang="en-US" sz="1200" dirty="0" err="1"/>
              <a:t>benzeri</a:t>
            </a:r>
            <a:r>
              <a:rPr lang="en-US" sz="1200" dirty="0"/>
              <a:t> distributed tree </a:t>
            </a:r>
            <a:r>
              <a:rPr lang="en-US" sz="1200" dirty="0" err="1"/>
              <a:t>yapılara</a:t>
            </a:r>
            <a:r>
              <a:rPr lang="en-US" sz="1200" dirty="0"/>
              <a:t> </a:t>
            </a:r>
            <a:r>
              <a:rPr lang="en-US" sz="1200" dirty="0" err="1"/>
              <a:t>dayanır</a:t>
            </a:r>
            <a:endParaRPr lang="en-US" sz="1200" dirty="0"/>
          </a:p>
          <a:p>
            <a:r>
              <a:rPr lang="en-US" sz="1200" dirty="0"/>
              <a:t>•   </a:t>
            </a:r>
            <a:r>
              <a:rPr lang="en-US" sz="1200" dirty="0" err="1"/>
              <a:t>MapReduce</a:t>
            </a:r>
            <a:r>
              <a:rPr lang="en-US" sz="1200" dirty="0"/>
              <a:t> </a:t>
            </a:r>
            <a:r>
              <a:rPr lang="en-US" sz="1200" dirty="0" err="1"/>
              <a:t>ve</a:t>
            </a:r>
            <a:r>
              <a:rPr lang="en-US" sz="1200" dirty="0"/>
              <a:t> </a:t>
            </a:r>
            <a:r>
              <a:rPr lang="en-US" sz="1200" dirty="0" err="1"/>
              <a:t>BigTable</a:t>
            </a:r>
            <a:r>
              <a:rPr lang="en-US" sz="1200" dirty="0"/>
              <a:t> </a:t>
            </a:r>
            <a:r>
              <a:rPr lang="en-US" sz="1200" dirty="0" err="1"/>
              <a:t>gibi</a:t>
            </a:r>
            <a:r>
              <a:rPr lang="en-US" sz="1200" dirty="0"/>
              <a:t> </a:t>
            </a:r>
            <a:r>
              <a:rPr lang="en-US" sz="1200" dirty="0" err="1"/>
              <a:t>sistemlerde</a:t>
            </a:r>
            <a:r>
              <a:rPr lang="en-US" sz="1200" dirty="0"/>
              <a:t> B-tree </a:t>
            </a:r>
            <a:r>
              <a:rPr lang="en-US" sz="1200" dirty="0" err="1"/>
              <a:t>varyasyonları</a:t>
            </a:r>
            <a:r>
              <a:rPr lang="en-US" sz="1200" dirty="0"/>
              <a:t> </a:t>
            </a:r>
            <a:r>
              <a:rPr lang="en-US" sz="1200" dirty="0" err="1"/>
              <a:t>kullanılır</a:t>
            </a:r>
            <a:endParaRPr lang="en-US" sz="1200" dirty="0"/>
          </a:p>
          <a:p>
            <a:r>
              <a:rPr lang="en-US" sz="1200" dirty="0"/>
              <a:t>•   </a:t>
            </a:r>
            <a:r>
              <a:rPr lang="en-US" sz="1200" dirty="0" err="1"/>
              <a:t>Trilyonlarca</a:t>
            </a:r>
            <a:r>
              <a:rPr lang="en-US" sz="1200" dirty="0"/>
              <a:t> web </a:t>
            </a:r>
            <a:r>
              <a:rPr lang="en-US" sz="1200" dirty="0" err="1"/>
              <a:t>sayfası</a:t>
            </a:r>
            <a:r>
              <a:rPr lang="en-US" sz="1200" dirty="0"/>
              <a:t> </a:t>
            </a:r>
            <a:r>
              <a:rPr lang="en-US" sz="1200" dirty="0" err="1"/>
              <a:t>işlenirken</a:t>
            </a:r>
            <a:r>
              <a:rPr lang="en-US" sz="1200" dirty="0"/>
              <a:t> </a:t>
            </a:r>
            <a:r>
              <a:rPr lang="en-US" sz="1200" dirty="0" err="1"/>
              <a:t>verimlilik</a:t>
            </a:r>
            <a:r>
              <a:rPr lang="en-US" sz="1200" dirty="0"/>
              <a:t> B-tree </a:t>
            </a:r>
            <a:r>
              <a:rPr lang="en-US" sz="1200" dirty="0" err="1"/>
              <a:t>sayesinde</a:t>
            </a:r>
            <a:r>
              <a:rPr lang="en-US" sz="1200" dirty="0"/>
              <a:t> </a:t>
            </a:r>
            <a:r>
              <a:rPr lang="en-US" sz="1200" dirty="0" err="1"/>
              <a:t>mümkün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9FAFB"/>
          </a:solidFill>
          <a:ln w="25400">
            <a:solidFill>
              <a:srgbClr val="005E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Elasticsearch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92040" y="1783080"/>
            <a:ext cx="365760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/>
              <a:t>•   Inverted indexes: </a:t>
            </a:r>
            <a:r>
              <a:rPr lang="en-US" sz="1200" dirty="0" err="1"/>
              <a:t>Kelime</a:t>
            </a:r>
            <a:r>
              <a:rPr lang="en-US" sz="1200" dirty="0"/>
              <a:t> → </a:t>
            </a:r>
            <a:r>
              <a:rPr lang="en-US" sz="1200" dirty="0" err="1"/>
              <a:t>dokümanlara</a:t>
            </a:r>
            <a:r>
              <a:rPr lang="en-US" sz="1200" dirty="0"/>
              <a:t> </a:t>
            </a:r>
            <a:r>
              <a:rPr lang="en-US" sz="1200" dirty="0" err="1"/>
              <a:t>geri</a:t>
            </a:r>
            <a:r>
              <a:rPr lang="en-US" sz="1200" dirty="0"/>
              <a:t> </a:t>
            </a:r>
            <a:r>
              <a:rPr lang="en-US" sz="1200" dirty="0" err="1"/>
              <a:t>bağlantı</a:t>
            </a:r>
            <a:endParaRPr lang="en-US" sz="1200" dirty="0"/>
          </a:p>
          <a:p>
            <a:r>
              <a:rPr lang="en-US" sz="1200" dirty="0"/>
              <a:t>•   Bu </a:t>
            </a:r>
            <a:r>
              <a:rPr lang="en-US" sz="1200" dirty="0" err="1"/>
              <a:t>indexler</a:t>
            </a:r>
            <a:r>
              <a:rPr lang="en-US" sz="1200" dirty="0"/>
              <a:t> B+ tree </a:t>
            </a:r>
            <a:r>
              <a:rPr lang="en-US" sz="1200" dirty="0" err="1"/>
              <a:t>benzeri</a:t>
            </a:r>
            <a:r>
              <a:rPr lang="en-US" sz="1200" dirty="0"/>
              <a:t> </a:t>
            </a:r>
            <a:r>
              <a:rPr lang="en-US" sz="1200" dirty="0" err="1"/>
              <a:t>ağaç</a:t>
            </a:r>
            <a:r>
              <a:rPr lang="en-US" sz="1200" dirty="0"/>
              <a:t> </a:t>
            </a:r>
            <a:r>
              <a:rPr lang="en-US" sz="1200" dirty="0" err="1"/>
              <a:t>yapılarında</a:t>
            </a:r>
            <a:r>
              <a:rPr lang="en-US" sz="1200" dirty="0"/>
              <a:t> </a:t>
            </a:r>
            <a:r>
              <a:rPr lang="en-US" sz="1200" dirty="0" err="1"/>
              <a:t>saklanır</a:t>
            </a:r>
            <a:endParaRPr lang="en-US" sz="1200" dirty="0"/>
          </a:p>
          <a:p>
            <a:r>
              <a:rPr lang="en-US" sz="1200" dirty="0"/>
              <a:t>•   </a:t>
            </a:r>
            <a:r>
              <a:rPr lang="en-US" sz="1200" dirty="0" err="1"/>
              <a:t>Milyarlarca</a:t>
            </a:r>
            <a:r>
              <a:rPr lang="en-US" sz="1200" dirty="0"/>
              <a:t> </a:t>
            </a:r>
            <a:r>
              <a:rPr lang="en-US" sz="1200" dirty="0" err="1"/>
              <a:t>dokümanda</a:t>
            </a:r>
            <a:r>
              <a:rPr lang="en-US" sz="1200" dirty="0"/>
              <a:t> </a:t>
            </a:r>
            <a:r>
              <a:rPr lang="en-US" sz="1200" dirty="0" err="1"/>
              <a:t>milisaniye</a:t>
            </a:r>
            <a:r>
              <a:rPr lang="en-US" sz="1200" dirty="0"/>
              <a:t> </a:t>
            </a:r>
            <a:r>
              <a:rPr lang="en-US" sz="1200" dirty="0" err="1"/>
              <a:t>içinde</a:t>
            </a:r>
            <a:r>
              <a:rPr lang="en-US" sz="1200" dirty="0"/>
              <a:t> </a:t>
            </a:r>
            <a:r>
              <a:rPr lang="en-US" sz="1200" dirty="0" err="1"/>
              <a:t>arama</a:t>
            </a:r>
            <a:r>
              <a:rPr lang="en-US" sz="1200" dirty="0"/>
              <a:t> </a:t>
            </a:r>
            <a:r>
              <a:rPr lang="en-US" sz="1200" dirty="0" err="1"/>
              <a:t>yapabilir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Neden Modern Sistemlerde Tercih Ediliyor?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solidFill>
            <a:srgbClr val="F0F9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704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 </a:t>
            </a: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I/O Verimliliği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017520" y="117043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 bloğu boyutuna optimized. Disk erişim sayısını minimize eder.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685800"/>
          </a:xfrm>
          <a:prstGeom prst="rect">
            <a:avLst/>
          </a:prstGeom>
          <a:solidFill>
            <a:srgbClr val="F9FA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019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Logaritmik Karmaşıklık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0" y="190195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O(log n) arama milyarlar için. 1 milyar kayıt = ~30 disk erişimi.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8229600" cy="685800"/>
          </a:xfrm>
          <a:prstGeom prst="rect">
            <a:avLst/>
          </a:prstGeom>
          <a:solidFill>
            <a:srgbClr val="F0F9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334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Kendiliğinden Dengeli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263347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Ekleme/silme sırasında otomatik balance. Yeniden indeksleme yok.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8229600" cy="685800"/>
          </a:xfrm>
          <a:prstGeom prst="rect">
            <a:avLst/>
          </a:prstGeom>
          <a:solidFill>
            <a:srgbClr val="F9FA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3649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Aralık Sorgusu Desteği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17520" y="336499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B+ tree yaprakları bağlıdır. Sıralı erişim ve aralık sorguları mükemmel.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solidFill>
            <a:srgbClr val="F0F9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0965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Muazzam Ölçeklenebilirlik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17520" y="409651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Terabyte'tan petabyte'a. Derinlik sadece log(n) kadar artar.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Büyük Veri Çağında Neden Gerekli?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8F9FA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Çözdükleri Sorun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Günde 2.5 Exabyte
new data oluşturuluyor
</a:t>
            </a:r>
            <a:endParaRPr lang="en-US" sz="11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B-tree olmadan: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Yönetmek imkansız
</a:t>
            </a:r>
            <a:endParaRPr lang="en-US" sz="11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B-tree ile: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TÜM veriye anında erişim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8F9FA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Kullanıcı Beklentileri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Gerçek Zamanlı Sonuç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Milisaniye içinde cevap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Dağıtık Sistemler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Multi-node DB'lerde hızlı indeksleme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Kullanılabilirlik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B-tree updates sırasında performans tutar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Gelecekte de Kullanılacak mı?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EVET - Kesinlikle Kullanılacaktır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Matematiksel Optimality: B-tree disk I/O için kanıtlanmış optimal yapı. Daha iyi çözüm yok.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12848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Quantum Bilgisayarlar Yardım Etmez: Quantum bile disk I/O sorununu çözemez.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688336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Muazzam Veri Büyümesi: Veri her 2-3 yılda ikiyle katlanır. B-tree O(log n) ile mükemmel ölçeklenir.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163824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Yeni Teknoloji Adaptasyonu: SSD, NVMe, Memory-mapped I/O - hepsi B-tree indekslemeden faydalanır.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639312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Endüstri Standardı: MySQL, PostgreSQL, MongoDB - milyonlarca şirket tarafından kullanılır.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LSM Tree B-tree Üzerine İnşa Edilir: Yeni indeksleme yöntemleri B-tree varyasyonlarıdır.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Sonuç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0" cy="3200400"/>
          </a:xfrm>
          <a:prstGeom prst="rect">
            <a:avLst/>
          </a:prstGeom>
          <a:solidFill>
            <a:srgbClr val="FFFFFF"/>
          </a:solidFill>
          <a:ln w="381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371600"/>
            <a:ext cx="67665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ve B+ Ağaçları modern teknolojinin </a:t>
            </a: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sessiz temeli</a:t>
            </a:r>
            <a:r>
              <a:rPr lang="en-US" sz="16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dir.
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</a:t>
            </a: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trilyonlarca sayfayı indekslemesinden
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</a:t>
            </a: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milyarlarca kullanıcıyı yönetmesine,
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 </a:t>
            </a: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trilyonlarca şarkı erişimi sağlamasına kadar:
</a:t>
            </a:r>
            <a:endParaRPr lang="en-US" sz="1600" dirty="0"/>
          </a:p>
          <a:p>
            <a:pPr marL="0" indent="0" algn="l">
              <a:buNone/>
            </a:pPr>
            <a:r>
              <a:rPr lang="en-US" sz="1400" i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Hepsinin altında B-tree teknolojisi vardır.
</a:t>
            </a:r>
            <a:r>
              <a:rPr lang="en-US" sz="1300" i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yıl sonra hala vazgeçilmezdir.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359</Words>
  <Application>Microsoft Office PowerPoint</Application>
  <PresentationFormat>On-screen Show (16:9)</PresentationFormat>
  <Paragraphs>119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 ve B+ Ağaçları Modern Sistemlerde</dc:title>
  <dc:subject>PptxGenJS Presentation</dc:subject>
  <dc:creator>B-Tree Araştırması</dc:creator>
  <cp:lastModifiedBy>HP</cp:lastModifiedBy>
  <cp:revision>4</cp:revision>
  <dcterms:created xsi:type="dcterms:W3CDTF">2026-05-19T11:43:09Z</dcterms:created>
  <dcterms:modified xsi:type="dcterms:W3CDTF">2026-05-19T12:01:02Z</dcterms:modified>
</cp:coreProperties>
</file>